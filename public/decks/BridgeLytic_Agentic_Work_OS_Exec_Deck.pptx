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Agentic Work OS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640080" y="214884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governed signal-to-decision pipeline for BridgeLytic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40080" y="301752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40080" y="3429000"/>
            <a:ext cx="9601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BridgeLytic needs a repeatable way to find organizations with credible demand, evaluate the strength of each opportunity, and decide what deserves immediate attention — without standing up four separate manual research teams, and without giving up human accountability for speed.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Candidate case study — BridgeLytic Agentic Work OS, 72-hour assessment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Design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Seven stages, one mandatory human gate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40080" y="1691640"/>
            <a:ext cx="1481328" cy="777240"/>
          </a:xfrm>
          <a:prstGeom prst="roundRect">
            <a:avLst>
              <a:gd fmla="val 9412" name="adj"/>
            </a:avLst>
          </a:prstGeom>
          <a:solidFill>
            <a:srgbClr val="F4F6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640080" y="1691640"/>
            <a:ext cx="14813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Capture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2121408" y="1691640"/>
            <a:ext cx="11887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2240280" y="1691640"/>
            <a:ext cx="1481328" cy="777240"/>
          </a:xfrm>
          <a:prstGeom prst="roundRect">
            <a:avLst>
              <a:gd fmla="val 9412" name="adj"/>
            </a:avLst>
          </a:prstGeom>
          <a:solidFill>
            <a:srgbClr val="F4F6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2240280" y="1691640"/>
            <a:ext cx="14813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Verify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721608" y="1691640"/>
            <a:ext cx="11887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840480" y="1691640"/>
            <a:ext cx="1481328" cy="777240"/>
          </a:xfrm>
          <a:prstGeom prst="roundRect">
            <a:avLst>
              <a:gd fmla="val 9412" name="adj"/>
            </a:avLst>
          </a:prstGeom>
          <a:solidFill>
            <a:srgbClr val="F4F6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3840480" y="1691640"/>
            <a:ext cx="14813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Classify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321808" y="1691640"/>
            <a:ext cx="11887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440680" y="1691640"/>
            <a:ext cx="1481328" cy="777240"/>
          </a:xfrm>
          <a:prstGeom prst="roundRect">
            <a:avLst>
              <a:gd fmla="val 9412" name="adj"/>
            </a:avLst>
          </a:prstGeom>
          <a:solidFill>
            <a:srgbClr val="F4F6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440680" y="1691640"/>
            <a:ext cx="14813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922008" y="1691640"/>
            <a:ext cx="11887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7040880" y="1691640"/>
            <a:ext cx="1481328" cy="777240"/>
          </a:xfrm>
          <a:prstGeom prst="roundRect">
            <a:avLst>
              <a:gd fmla="val 9412" name="adj"/>
            </a:avLst>
          </a:prstGeom>
          <a:solidFill>
            <a:srgbClr val="F4F6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7040880" y="1691640"/>
            <a:ext cx="14813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Enrich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8522208" y="1691640"/>
            <a:ext cx="11887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641080" y="1691640"/>
            <a:ext cx="1481328" cy="777240"/>
          </a:xfrm>
          <a:prstGeom prst="roundRect">
            <a:avLst>
              <a:gd fmla="val 9412" name="adj"/>
            </a:avLst>
          </a:prstGeom>
          <a:solidFill>
            <a:srgbClr val="F4F6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8641080" y="1691640"/>
            <a:ext cx="14813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Recommend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0122408" y="1691640"/>
            <a:ext cx="11887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0241280" y="1691640"/>
            <a:ext cx="1481328" cy="777240"/>
          </a:xfrm>
          <a:prstGeom prst="roundRect">
            <a:avLst>
              <a:gd fmla="val 9412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0241280" y="1691640"/>
            <a:ext cx="14813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40080" y="269748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Human approves everything past Control — no external action is ever automatic.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40080" y="3291840"/>
            <a:ext cx="10881360" cy="2651760"/>
          </a:xfrm>
          <a:prstGeom prst="roundRect">
            <a:avLst>
              <a:gd fmla="val 3448" name="adj"/>
            </a:avLst>
          </a:prstGeom>
          <a:solidFill>
            <a:srgbClr val="F4F6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914400" y="347472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Routing target: BridgeLytic's real business, not the case's placeholder taxonomy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914400" y="3977640"/>
            <a:ext cx="3429000" cy="50292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914400" y="3977640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Private Capital &amp; Portfolio Operations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526280" y="3977640"/>
            <a:ext cx="3429000" cy="50292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526280" y="3977640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Manufacturing &amp; Industrial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8138160" y="3977640"/>
            <a:ext cx="3429000" cy="50292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8138160" y="3977640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Professional &amp; Business Services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914400" y="4709160"/>
            <a:ext cx="2514600" cy="502920"/>
          </a:xfrm>
          <a:prstGeom prst="roundRect">
            <a:avLst>
              <a:gd fmla="val 10909" name="adj"/>
            </a:avLst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914400" y="47091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Digital Transformation Blueprint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3566160" y="4709160"/>
            <a:ext cx="2514600" cy="502920"/>
          </a:xfrm>
          <a:prstGeom prst="roundRect">
            <a:avLst>
              <a:gd fmla="val 10909" name="adj"/>
            </a:avLst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3566160" y="47091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Workflow Transformation Sprint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217920" y="4709160"/>
            <a:ext cx="2514600" cy="502920"/>
          </a:xfrm>
          <a:prstGeom prst="roundRect">
            <a:avLst>
              <a:gd fmla="val 10909" name="adj"/>
            </a:avLst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6217920" y="47091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Enterprise AI Implementation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8869680" y="4709160"/>
            <a:ext cx="2514600" cy="502920"/>
          </a:xfrm>
          <a:prstGeom prst="roundRect">
            <a:avLst>
              <a:gd fmla="val 10909" name="adj"/>
            </a:avLst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8869680" y="47091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Managed Transformation Office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914400" y="534924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Sourced directly from bridgelytic.capital — the case PDF's example categories (education programs, global partnerships) don't exist in the real business.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Prototype evidence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A working pipeline, tested against real data — not just written once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40080" y="1554480"/>
            <a:ext cx="2514600" cy="1051560"/>
          </a:xfrm>
          <a:prstGeom prst="roundRect">
            <a:avLst>
              <a:gd fmla="val 6957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40080" y="1627632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40080" y="219456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real signals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3383280" y="1554480"/>
            <a:ext cx="2514600" cy="1051560"/>
          </a:xfrm>
          <a:prstGeom prst="roundRect">
            <a:avLst>
              <a:gd fmla="val 6957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3383280" y="1627632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3383280" y="219456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source types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126480" y="1554480"/>
            <a:ext cx="2514600" cy="1051560"/>
          </a:xfrm>
          <a:prstGeom prst="roundRect">
            <a:avLst>
              <a:gd fmla="val 6957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6126480" y="1627632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126480" y="219456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modular stages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8869680" y="1554480"/>
            <a:ext cx="2514600" cy="1051560"/>
          </a:xfrm>
          <a:prstGeom prst="roundRect">
            <a:avLst>
              <a:gd fmla="val 6957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8869680" y="1627632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8869680" y="219456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audit events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40080" y="29260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Real bugs, found and fixed through testing — not hypothetical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40080" y="3429000"/>
            <a:ext cx="10881360" cy="822960"/>
          </a:xfrm>
          <a:prstGeom prst="roundRect">
            <a:avLst>
              <a:gd fmla="val 6667" name="adj"/>
            </a:avLst>
          </a:prstGeom>
          <a:solidFill>
            <a:srgbClr val="F4F6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868680" y="3502152"/>
            <a:ext cx="23774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Keyword brittleness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3383280" y="3502152"/>
            <a:ext cx="79552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 real signal ("professional/business services") was wrongly rejected by a punctuation-sensitive keyword match — caught by testing, then fixed.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40080" y="4361688"/>
            <a:ext cx="10881360" cy="822960"/>
          </a:xfrm>
          <a:prstGeom prst="roundRect">
            <a:avLst>
              <a:gd fmla="val 6667" name="adj"/>
            </a:avLst>
          </a:prstGeom>
          <a:solidFill>
            <a:srgbClr val="F4F6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868680" y="4434840"/>
            <a:ext cx="23774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False staleness positive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383280" y="4434840"/>
            <a:ext cx="79552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"Acquisition closed" (fresh news) was flagged the same as "deadline closed" (stale) by one overloaded keyword — traced to a real scoring error and corrected.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40080" y="5294376"/>
            <a:ext cx="10881360" cy="822960"/>
          </a:xfrm>
          <a:prstGeom prst="roundRect">
            <a:avLst>
              <a:gd fmla="val 6667" name="adj"/>
            </a:avLst>
          </a:prstGeom>
          <a:solidFill>
            <a:srgbClr val="F4F6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868680" y="5367528"/>
            <a:ext cx="23774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Missing recipient check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383280" y="5367528"/>
            <a:ext cx="79552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 government grant nearly routed as a real opportunity on a coincidental keyword match — added a dedicated recipient-type check to catch it.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Priority results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Top-ranked opportunities from this run, plus one correctly rejected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640080" y="15544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1737360" y="15544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Organization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212080" y="155448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Industry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8229600" y="155448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Recommended engagement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6"/>
          <p:cNvCxnSpPr/>
          <p:nvPr/>
        </p:nvCxnSpPr>
        <p:spPr>
          <a:xfrm>
            <a:off x="640080" y="1901952"/>
            <a:ext cx="10881360" cy="0"/>
          </a:xfrm>
          <a:prstGeom prst="straightConnector1">
            <a:avLst/>
          </a:prstGeom>
          <a:noFill/>
          <a:ln cap="flat" cmpd="sng" w="1905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6"/>
          <p:cNvSpPr/>
          <p:nvPr/>
        </p:nvSpPr>
        <p:spPr>
          <a:xfrm>
            <a:off x="640080" y="1965960"/>
            <a:ext cx="960120" cy="457200"/>
          </a:xfrm>
          <a:prstGeom prst="roundRect">
            <a:avLst>
              <a:gd fmla="val 12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640080" y="196596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6.07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1737360" y="20116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General Robotics (SIG SAUER)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5212080" y="20116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Manufacturing &amp; Industrial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8229600" y="20116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Digital Transformation Blueprint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40080" y="2651760"/>
            <a:ext cx="960120" cy="457200"/>
          </a:xfrm>
          <a:prstGeom prst="roundRect">
            <a:avLst>
              <a:gd fmla="val 12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640080" y="265176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5.81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1737360" y="26974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OneSource Virtual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5212080" y="26974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Professional &amp; Business Services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8229600" y="26974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Digital Transformation Blueprint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40080" y="3337560"/>
            <a:ext cx="960120" cy="457200"/>
          </a:xfrm>
          <a:prstGeom prst="roundRect">
            <a:avLst>
              <a:gd fmla="val 12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640080" y="333756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5.57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1737360" y="33832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Southfield Capital / Contextual.io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5212080" y="33832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Private Capital &amp; Portfolio Ops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8229600" y="33832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Enterprise AI Implementation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40080" y="4297680"/>
            <a:ext cx="10881360" cy="1828800"/>
          </a:xfrm>
          <a:prstGeom prst="roundRect">
            <a:avLst>
              <a:gd fmla="val 5000" name="adj"/>
            </a:avLst>
          </a:prstGeom>
          <a:solidFill>
            <a:srgbClr val="F4F6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914400" y="448056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Correctly rejected: WorkforceGPS Industry-Driven Skills Training Fund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914400" y="4892040"/>
            <a:ext cx="10332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 federal grant to State Workforce Agencies matched a manufacturing keyword by coincidence (“advanced manufacturing”) — but the recipient is a government body, and BridgeLytic serves operating companies only. A dedicated recipient-type check overrides the keyword match and routes this to NO_FIT, rather than forcing a false positive into the pipeline.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Risks &amp; controls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Every signal lands in one of three human-facing queues — none self-promote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640080" y="1508760"/>
            <a:ext cx="3429000" cy="960120"/>
          </a:xfrm>
          <a:prstGeom prst="roundRect">
            <a:avLst>
              <a:gd fmla="val 7619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640080" y="160020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Pending approval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640080" y="196596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Ready for a human to act 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297680" y="1508760"/>
            <a:ext cx="3429000" cy="960120"/>
          </a:xfrm>
          <a:prstGeom prst="roundRect">
            <a:avLst>
              <a:gd fmla="val 7619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4297680" y="160020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Needs human review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297680" y="196596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Stale, ambiguous, or dated evidence flagged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7955280" y="1508760"/>
            <a:ext cx="3429000" cy="960120"/>
          </a:xfrm>
          <a:prstGeom prst="roundRect">
            <a:avLst>
              <a:gd fmla="val 7619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7955280" y="160020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Rejected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7955280" y="196596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No fit — including recipient-type overrides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40080" y="27432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Three failure modes handled, demonstrated on real data (not hypothetical)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40080" y="3200400"/>
            <a:ext cx="10881360" cy="658368"/>
          </a:xfrm>
          <a:prstGeom prst="roundRect">
            <a:avLst>
              <a:gd fmla="val 8333" name="adj"/>
            </a:avLst>
          </a:prstGeom>
          <a:solidFill>
            <a:srgbClr val="F4F6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868680" y="3246120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Stale information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3566160" y="3246120"/>
            <a:ext cx="7772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 closed accelerator window is capped in urgency and blocked from approval, even with a strong industry fit.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40080" y="3977640"/>
            <a:ext cx="10881360" cy="658368"/>
          </a:xfrm>
          <a:prstGeom prst="roundRect">
            <a:avLst>
              <a:gd fmla="val 8333" name="adj"/>
            </a:avLst>
          </a:prstGeom>
          <a:solidFill>
            <a:srgbClr val="F4F6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868680" y="4023360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Duplicate signals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3566160" y="4023360"/>
            <a:ext cx="7772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Two separate manufacturers posting near-identical roles are flagged as a related cluster, not silently merged or duplicated.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40080" y="4754880"/>
            <a:ext cx="10881360" cy="658368"/>
          </a:xfrm>
          <a:prstGeom prst="roundRect">
            <a:avLst>
              <a:gd fmla="val 8333" name="adj"/>
            </a:avLst>
          </a:prstGeom>
          <a:solidFill>
            <a:srgbClr val="F4F6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868680" y="4800600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Ambiguous / wrong-recipient fit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3566160" y="4800600"/>
            <a:ext cx="7772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Government and pass-through recipients are overridden to NO_FIT regardless of keyword match strength.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Known limitation, stated plainly: routing is keyword-based, not semantic — it will still miss unfamiliar phrasing. Enrich runs deterministically by design for this batch review (full auditability); a real, live-validated Claude API integration exists and is disclosed separately, not treated as a gap.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30-day recommendation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Where this goes next, in priority order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640080" y="1828800"/>
            <a:ext cx="502920" cy="502920"/>
          </a:xfrm>
          <a:prstGeom prst="roundRect">
            <a:avLst>
              <a:gd fmla="val 50909" name="adj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1371600" y="181051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Expand signal sourcing, especially Professional &amp; Business Services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1371600" y="217627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Mid-market firms in this industry are structurally under-represented in public search results — a documented finding, not a gap to paper over.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40080" y="2880360"/>
            <a:ext cx="502920" cy="502920"/>
          </a:xfrm>
          <a:prstGeom prst="roundRect">
            <a:avLst>
              <a:gd fmla="val 50909" name="adj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640080" y="28803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371600" y="286207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Tune scoring weights against real pilot outcomes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1371600" y="322783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Current weights are reasoned, not yet validated against which flagged opportunities actually converted.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640080" y="3931920"/>
            <a:ext cx="502920" cy="502920"/>
          </a:xfrm>
          <a:prstGeom prst="roundRect">
            <a:avLst>
              <a:gd fmla="val 50909" name="adj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371600" y="39136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 a persistent signal store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371600" y="427939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De-duplicate across runs by URL/title hash so the same opportunity doesn't resurface as “new” every cycle.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40080" y="4983480"/>
            <a:ext cx="502920" cy="502920"/>
          </a:xfrm>
          <a:prstGeom prst="roundRect">
            <a:avLst>
              <a:gd fmla="val 50909" name="adj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640080" y="49834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371600" y="496519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Optionally swap Enrich to the live Claude integration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1371600" y="53309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enrich_llm.py is already built and validated with a real API call — available on request; the deterministic default was a deliberate auditability choice, not an oversight.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